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43a1c49bfe46c1" /><Relationship Type="http://schemas.openxmlformats.org/officeDocument/2006/relationships/extended-properties" Target="/docProps/app.xml" Id="Rd226e30b05ce4e5e" /><Relationship Type="http://schemas.openxmlformats.org/officeDocument/2006/relationships/officeDocument" Target="/ppt/presentation.xml" Id="R82d062f0ef1247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88aeb8fa4c4e0c"/>
  </p:sldMasterIdLst>
  <p:notesMasterIdLst>
    <p:notesMasterId xmlns:r="http://schemas.openxmlformats.org/officeDocument/2006/relationships" r:id="Reef589bd4aed4a68"/>
  </p:notesMasterIdLst>
  <p:sldIdLst>
    <p:sldId xmlns:r="http://schemas.openxmlformats.org/officeDocument/2006/relationships" id="256" r:id="R05715f732ceb497b"/>
    <p:sldId xmlns:r="http://schemas.openxmlformats.org/officeDocument/2006/relationships" id="257" r:id="R442b08a9126b4f40"/>
    <p:sldId xmlns:r="http://schemas.openxmlformats.org/officeDocument/2006/relationships" id="258" r:id="R0e584dd419ee4411"/>
    <p:sldId xmlns:r="http://schemas.openxmlformats.org/officeDocument/2006/relationships" id="259" r:id="Rf2dca90fc47a40e3"/>
    <p:sldId xmlns:r="http://schemas.openxmlformats.org/officeDocument/2006/relationships" id="260" r:id="R2538d2d2a2df4389"/>
    <p:sldId xmlns:r="http://schemas.openxmlformats.org/officeDocument/2006/relationships" id="261" r:id="Rd6b5287a5a7d406e"/>
    <p:sldId xmlns:r="http://schemas.openxmlformats.org/officeDocument/2006/relationships" id="262" r:id="Rf8a9713865534ff1"/>
    <p:sldId xmlns:r="http://schemas.openxmlformats.org/officeDocument/2006/relationships" id="263" r:id="R66d8126a306c47e8"/>
    <p:sldId xmlns:r="http://schemas.openxmlformats.org/officeDocument/2006/relationships" id="264" r:id="R2be573fe91644f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3ad682b7544fc2" /><Relationship Type="http://schemas.openxmlformats.org/officeDocument/2006/relationships/slideMaster" Target="/ppt/slideMasters/slideMaster1.xml" Id="R1788aeb8fa4c4e0c" /><Relationship Type="http://schemas.openxmlformats.org/officeDocument/2006/relationships/notesMaster" Target="/ppt/notesMasters/notesMaster1.xml" Id="Reef589bd4aed4a68" /><Relationship Type="http://schemas.openxmlformats.org/officeDocument/2006/relationships/presProps" Target="/ppt/presProps.xml" Id="R646e3354187d4e11" /><Relationship Type="http://schemas.openxmlformats.org/officeDocument/2006/relationships/tableStyles" Target="/ppt/tableStyles.xml" Id="R2249fcd8255e4c41" /><Relationship Type="http://schemas.openxmlformats.org/officeDocument/2006/relationships/slide" Target="/ppt/slides/slide1.xml" Id="R05715f732ceb497b" /><Relationship Type="http://schemas.openxmlformats.org/officeDocument/2006/relationships/slide" Target="/ppt/slides/slide2.xml" Id="R442b08a9126b4f40" /><Relationship Type="http://schemas.openxmlformats.org/officeDocument/2006/relationships/slide" Target="/ppt/slides/slide3.xml" Id="R0e584dd419ee4411" /><Relationship Type="http://schemas.openxmlformats.org/officeDocument/2006/relationships/slide" Target="/ppt/slides/slide4.xml" Id="Rf2dca90fc47a40e3" /><Relationship Type="http://schemas.openxmlformats.org/officeDocument/2006/relationships/slide" Target="/ppt/slides/slide5.xml" Id="R2538d2d2a2df4389" /><Relationship Type="http://schemas.openxmlformats.org/officeDocument/2006/relationships/slide" Target="/ppt/slides/slide6.xml" Id="Rd6b5287a5a7d406e" /><Relationship Type="http://schemas.openxmlformats.org/officeDocument/2006/relationships/slide" Target="/ppt/slides/slide7.xml" Id="Rf8a9713865534ff1" /><Relationship Type="http://schemas.openxmlformats.org/officeDocument/2006/relationships/slide" Target="/ppt/slides/slide8.xml" Id="R66d8126a306c47e8" /><Relationship Type="http://schemas.openxmlformats.org/officeDocument/2006/relationships/slide" Target="/ppt/slides/slide9.xml" Id="R2be573fe91644f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28f4948a114d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c1e676220747da" /><Relationship Type="http://schemas.openxmlformats.org/officeDocument/2006/relationships/notesMaster" Target="/ppt/notesMasters/notesMaster1.xml" Id="Rd479db24427e46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ac460aae584c93" /><Relationship Type="http://schemas.openxmlformats.org/officeDocument/2006/relationships/notesMaster" Target="/ppt/notesMasters/notesMaster1.xml" Id="R168ac4f6496543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2260a5f0e04a6a" /><Relationship Type="http://schemas.openxmlformats.org/officeDocument/2006/relationships/notesMaster" Target="/ppt/notesMasters/notesMaster1.xml" Id="Raa1cc80d44b941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60c2dd2d3c48f4" /><Relationship Type="http://schemas.openxmlformats.org/officeDocument/2006/relationships/notesMaster" Target="/ppt/notesMasters/notesMaster1.xml" Id="R8f46b68345064e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df7a7d3b234063" /><Relationship Type="http://schemas.openxmlformats.org/officeDocument/2006/relationships/notesMaster" Target="/ppt/notesMasters/notesMaster1.xml" Id="Rf7bbdb69276940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e8e360ee3f4bc6" /><Relationship Type="http://schemas.openxmlformats.org/officeDocument/2006/relationships/notesMaster" Target="/ppt/notesMasters/notesMaster1.xml" Id="R7bd8bfd1979648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939cc621ded4aad" /><Relationship Type="http://schemas.openxmlformats.org/officeDocument/2006/relationships/notesMaster" Target="/ppt/notesMasters/notesMaster1.xml" Id="R1fd7ae2c4eb744c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d0f70a26f1746f9" /><Relationship Type="http://schemas.openxmlformats.org/officeDocument/2006/relationships/notesMaster" Target="/ppt/notesMasters/notesMaster1.xml" Id="R35e96b771fbe494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8775ce7a0be4181" /><Relationship Type="http://schemas.openxmlformats.org/officeDocument/2006/relationships/notesMaster" Target="/ppt/notesMasters/notesMaster1.xml" Id="R774f8528a03046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开场说明项目只做基线，买家不注册、线下付款交货。组号和组长姓名须在汇报前填写。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课程评审要求：https://github.com/sebestp/coursewise/wiki/阶段性评审-(I)</a:t>
            </a:r>
          </a:p>
          <a:p xmlns:a="http://schemas.openxmlformats.org/drawingml/2006/main">
            <a:r>
              <a:t>课程日程：https://github.com/sebestp/coursewise/wiki/评审日程</a:t>
            </a:r>
          </a:p>
          <a:p xmlns:a="http://schemas.openxmlformats.org/drawingml/2006/main">
            <a:r>
              <a:t>源码公开状态：2026-10-07上传快照193b33f：01前端与05账号集成源码已公开，其余模块待上传。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说明商品包括名称、描述、图片和价格。卖家后台还包含修改密码。功能范围对应需求规格说明书F01～F10。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课程评审要求：https://github.com/sebestp/coursewise/wiki/阶段性评审-(I)</a:t>
            </a:r>
          </a:p>
          <a:p xmlns:a="http://schemas.openxmlformats.org/drawingml/2006/main">
            <a:r>
              <a:t>课程日程：https://github.com/sebestp/coursewise/wiki/评审日程</a:t>
            </a:r>
          </a:p>
          <a:p xmlns:a="http://schemas.openxmlformats.org/drawingml/2006/main">
            <a:r>
              <a:t>源码公开状态：2026-10-07上传快照193b33f：01前端与05账号集成源码已公开，其余模块待上传。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强调提交意向本身不冻结。冻结商品仍占唯一名额，停止接收新意向；成交记录和历史保留。图文流程详见需求Wiki。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课程评审要求：https://github.com/sebestp/coursewise/wiki/阶段性评审-(I)</a:t>
            </a:r>
          </a:p>
          <a:p xmlns:a="http://schemas.openxmlformats.org/drawingml/2006/main">
            <a:r>
              <a:t>课程日程：https://github.com/sebestp/coursewise/wiki/评审日程</a:t>
            </a:r>
          </a:p>
          <a:p xmlns:a="http://schemas.openxmlformats.org/drawingml/2006/main">
            <a:r>
              <a:t>源码公开状态：2026-10-07上传快照193b33f：01前端与05账号集成源码已公开，其余模块待上传。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各模块共同构成系统，单个模块不必独立成为完整项目。已有四个GitHub账号，但尚不清楚真实姓名和具体模块对应，不代填。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课程评审要求：https://github.com/sebestp/coursewise/wiki/阶段性评审-(I)</a:t>
            </a:r>
          </a:p>
          <a:p xmlns:a="http://schemas.openxmlformats.org/drawingml/2006/main">
            <a:r>
              <a:t>课程日程：https://github.com/sebestp/coursewise/wiki/评审日程</a:t>
            </a:r>
          </a:p>
          <a:p xmlns:a="http://schemas.openxmlformats.org/drawingml/2006/main">
            <a:r>
              <a:t>源码公开状态：2026-10-07上传快照193b33f：01前端与05账号集成源码已公开，其余模块待上传。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展示GitHub四个文件和版本下载。上传快照193b33f已含01和05两个模块源码，2/5=40%，仅源码上传覆盖率；其余3个模块、README和运行验证待补，总进度和权重由小组确认。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课程评审要求：https://github.com/sebestp/coursewise/wiki/阶段性评审-(I)</a:t>
            </a:r>
          </a:p>
          <a:p xmlns:a="http://schemas.openxmlformats.org/drawingml/2006/main">
            <a:r>
              <a:t>课程日程：https://github.com/sebestp/coursewise/wiki/评审日程</a:t>
            </a:r>
          </a:p>
          <a:p xmlns:a="http://schemas.openxmlformats.org/drawingml/2006/main">
            <a:r>
              <a:t>源码公开状态：2026-10-07上传快照193b33f：01前端与05账号集成源码已公开，其余模块待上传。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结合app.js打开函数说明。前端禁用按钮不代替后端权限和状态检查；后端必须验证商品状态、会话及事务。AI辅助生成原型，成员需要本人理解、改进并验证。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课程评审要求：https://github.com/sebestp/coursewise/wiki/阶段性评审-(I)</a:t>
            </a:r>
          </a:p>
          <a:p xmlns:a="http://schemas.openxmlformats.org/drawingml/2006/main">
            <a:r>
              <a:t>课程日程：https://github.com/sebestp/coursewise/wiki/评审日程</a:t>
            </a:r>
          </a:p>
          <a:p xmlns:a="http://schemas.openxmlformats.org/drawingml/2006/main">
            <a:r>
              <a:t>源码公开状态：2026-10-07上传快照193b33f：01前端与05账号集成源码已公开，其余模块待上传。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现场执行node --check。语法通过不代表界面和业务全部正确。测试清单F01～F10逐项映射；旧本机后端测试不作为其他成员今晚版本的证据。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课程评审要求：https://github.com/sebestp/coursewise/wiki/阶段性评审-(I)</a:t>
            </a:r>
          </a:p>
          <a:p xmlns:a="http://schemas.openxmlformats.org/drawingml/2006/main">
            <a:r>
              <a:t>课程日程：https://github.com/sebestp/coursewise/wiki/评审日程</a:t>
            </a:r>
          </a:p>
          <a:p xmlns:a="http://schemas.openxmlformats.org/drawingml/2006/main">
            <a:r>
              <a:t>源码公开状态：2026-10-07上传快照193b33f：01前端与05账号集成源码已公开，其余模块待上传。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这是依据课程日期拟定的计划草案，实际迭代起止日期、整体计划是否认可和总进度留待小组确认。阶段目标不包含升级功能。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课程评审要求：https://github.com/sebestp/coursewise/wiki/阶段性评审-(I)</a:t>
            </a:r>
          </a:p>
          <a:p xmlns:a="http://schemas.openxmlformats.org/drawingml/2006/main">
            <a:r>
              <a:t>课程日程：https://github.com/sebestp/coursewise/wiki/评审日程</a:t>
            </a:r>
          </a:p>
          <a:p xmlns:a="http://schemas.openxmlformats.org/drawingml/2006/main">
            <a:r>
              <a:t>源码公开状态：2026-10-07上传快照193b33f：01前端与05账号集成源码已公开，其余模块待上传。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课程规定评审前一天24时前提交报告。PPT和Wiki仍有用户要求暂留空字段，不提前填教师意见。首次钉钉提交由组长发送，本轮未代发群消息。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课程评审要求：https://github.com/sebestp/coursewise/wiki/阶段性评审-(I)</a:t>
            </a:r>
          </a:p>
          <a:p xmlns:a="http://schemas.openxmlformats.org/drawingml/2006/main">
            <a:r>
              <a:t>课程日程：https://github.com/sebestp/coursewise/wiki/评审日程</a:t>
            </a:r>
          </a:p>
          <a:p xmlns:a="http://schemas.openxmlformats.org/drawingml/2006/main">
            <a:r>
              <a:t>源码公开状态：2026-10-07上传快照193b33f：01前端与05账号集成源码已公开，其余模块待上传。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62a52305b940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b9c765f0634f1d" /><Relationship Type="http://schemas.openxmlformats.org/officeDocument/2006/relationships/slideLayout" Target="/ppt/slideLayouts/slideLayout1.xml" Id="R3a949d43c6f048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949d43c6f048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003c3d8ce641a6" /><Relationship Type="http://schemas.openxmlformats.org/officeDocument/2006/relationships/notesSlide" Target="/ppt/notesSlides/notesSlide1.xml" Id="R4b0b93a4f02b4d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cbc9ac6064be9" /><Relationship Type="http://schemas.openxmlformats.org/officeDocument/2006/relationships/notesSlide" Target="/ppt/notesSlides/notesSlide2.xml" Id="R39a66b44f7274b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2a30b44ca400b" /><Relationship Type="http://schemas.openxmlformats.org/officeDocument/2006/relationships/notesSlide" Target="/ppt/notesSlides/notesSlide3.xml" Id="R5344fbdde1a440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d9107e6b864466" /><Relationship Type="http://schemas.openxmlformats.org/officeDocument/2006/relationships/notesSlide" Target="/ppt/notesSlides/notesSlide4.xml" Id="R50c0a163cf014c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7b2d6909504304" /><Relationship Type="http://schemas.openxmlformats.org/officeDocument/2006/relationships/notesSlide" Target="/ppt/notesSlides/notesSlide5.xml" Id="R303d8f1f271d46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c5c6d6ce0a4464" /><Relationship Type="http://schemas.openxmlformats.org/officeDocument/2006/relationships/notesSlide" Target="/ppt/notesSlides/notesSlide6.xml" Id="R726addd01e4143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bb799c15a94391" /><Relationship Type="http://schemas.openxmlformats.org/officeDocument/2006/relationships/notesSlide" Target="/ppt/notesSlides/notesSlide7.xml" Id="R821f07559f3341c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0fd114ccad44aa" /><Relationship Type="http://schemas.openxmlformats.org/officeDocument/2006/relationships/notesSlide" Target="/ppt/notesSlides/notesSlide8.xml" Id="R598d4daa6b954c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53e791a7f24f49" /><Relationship Type="http://schemas.openxmlformats.org/officeDocument/2006/relationships/notesSlide" Target="/ppt/notesSlides/notesSlide9.xml" Id="R44eca7d7697e4c8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9A3DF2-4F68-4691-91A3-D07FF2017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rPr>
              <a:t>软件工程实践  /  基线项目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FE0E4-CE6E-4F4E-86E4-3A092D2B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rPr>
              <a:t>在线购物系统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EC7A1C-D9CA-4EAA-8013-D45B18F9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rPr>
              <a:t>第一次阶段性评审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3A93C2-84F9-439B-BC6B-EE4F3CE7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2026 年 10 月 8 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5A9518-099D-4DFC-95B0-F5A7BD1D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项目组号：____    组长：____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EE4CF3-1C00-41CF-9AA2-EDAE3243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006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基线需求与前端成果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151D7-0413-414E-8E23-C859F2C4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484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rPr>
              <a:t>第一次阶段性评审   2026-10-08                                     01 / 09</a:t>
            </a:r>
          </a:p>
        </p:txBody>
      </p:sp>
    </p:spTree>
    <p:extLst>
      <p:ext uri="{BB962C8B-B14F-4D97-AF65-F5344CB8AC3E}">
        <p14:creationId xmlns:p14="http://schemas.microsoft.com/office/powerpoint/2010/main" val="16617596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4BB082-92A5-4B76-9F11-A2B43526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rPr>
              <a:t>软件工程实践  /  基线项目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E29205-06D1-4972-BCEF-BC22893D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rPr>
              <a:t>基线需求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3BD5DF-DE2E-4E56-915B-41EEFCE4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rPr>
              <a:t>买家与单一卖家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F801FB-C60C-4CD9-96DD-10A2F3CE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买家查看商品，想购买时填写姓名和电话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5DC76A-657D-46E8-9060-AB3C365D4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卖家发布商品，查看历史和意向买家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1C2FE2-640B-4F87-9564-9DE11381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交易前冻结，成功下架，失败恢复上线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A4E117-0242-45B0-88CB-4A389529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同时只有一件未售商品，成交后再发布下一件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04F177-17DD-4749-AF56-267B73F7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不增加注册、购物车、在线支付或配送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EFBB9E-A87D-49E6-A033-360193D2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484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rPr>
              <a:t>第一次阶段性评审   2026-10-08                                     02 / 09</a:t>
            </a:r>
          </a:p>
        </p:txBody>
      </p:sp>
    </p:spTree>
    <p:extLst>
      <p:ext uri="{BB962C8B-B14F-4D97-AF65-F5344CB8AC3E}">
        <p14:creationId xmlns:p14="http://schemas.microsoft.com/office/powerpoint/2010/main" val="9350912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CA37B3-9A25-46AC-9B5B-4A32F255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rPr>
              <a:t>软件工程实践  /  基线项目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C520F-7986-463E-88AE-5450327A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rPr>
              <a:t>线下交易流程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DF5C97-1A65-4C76-B64F-DFE6A990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rPr>
              <a:t>提交意向后由卖家选定交易对象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1A7712-3DDC-46E2-8AF6-DAFAFBEE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1   卖家发布唯一商品，买家浏览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D0E7A-5EB9-45AF-A100-C4057839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2   买家填写信息，提交购买意向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9FED2-96AD-4F1F-8526-362FD3C7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3   卖家联系并选择买家，冻结商品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7DE961-B6CA-4B3D-B8B8-2B00C163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4   在线下交钱交货，再确认交易结果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B454C-58C6-4226-9EFC-DFABB72D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5   成功下架；失败恢复上线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55370E-2CEB-4DCB-9DCF-E7215318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484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rPr>
              <a:t>第一次阶段性评审   2026-10-08                                     03 / 09</a:t>
            </a:r>
          </a:p>
        </p:txBody>
      </p:sp>
    </p:spTree>
    <p:extLst>
      <p:ext uri="{BB962C8B-B14F-4D97-AF65-F5344CB8AC3E}">
        <p14:creationId xmlns:p14="http://schemas.microsoft.com/office/powerpoint/2010/main" val="9183487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8F6232-C8EB-455A-8EA1-F74D9FE6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rPr>
              <a:t>软件工程实践  /  基线项目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9BA5EE-0603-4D7D-A4D8-00614BFC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rPr>
              <a:t>五人模块分工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BA109-1A15-4D29-8749-D2332B6B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rPr>
              <a:t>组长负责前端，后端由组员本人陆续上传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AA9D14-48F4-4CC4-B788-C3394328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01  前端界面                 组长，姓名 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5C3619-44AD-43DE-BC0C-9B867D00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02  商品浏览与购买意向       姓名 ____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8F6E55-E5C1-45D1-8986-6DBC9799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03  商品发布与历史           姓名 ____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EC6C59-1A50-471A-9DAB-51A5D868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04  交易与冻结管理           姓名 ____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2A9B59-132D-4914-9AFA-B60B1955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05  卖家账号与系统集成       姓名 ____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FD9B95-20B4-4D57-9EBD-3923FEBC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484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rPr>
              <a:t>第一次阶段性评审   2026-10-08                                     04 / 09</a:t>
            </a:r>
          </a:p>
        </p:txBody>
      </p:sp>
    </p:spTree>
    <p:extLst>
      <p:ext uri="{BB962C8B-B14F-4D97-AF65-F5344CB8AC3E}">
        <p14:creationId xmlns:p14="http://schemas.microsoft.com/office/powerpoint/2010/main" val="646627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F93906-B6C5-49FF-B960-B88EA6A1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rPr>
              <a:t>软件工程实践  /  基线项目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A70DBF-F4F0-4466-AD5A-4615EEB32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rPr>
              <a:t>本次已公开成果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66A0D3-870D-4ED3-8823-CD5087AD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rPr>
              <a:t>前端代码、说明和可下载版本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80D5C-4BAD-4926-8420-9D8339CE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index.html  页面骨架与导航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6CF117-4F23-4FCF-9D49-1C23CB8C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style.css  样式和响应式布局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F69C69-7ECC-4294-BB81-9274EB51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app.js  页面切换、表单与 API 请求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496EBA-4555-47C6-9DEB-642C58C4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README  关键函数、变量和答辩问答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E89CBB-1A0D-4FFE-8A4A-DF9356F3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v0.1.0-frontend  前端源码下载版本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5813C9-4911-4949-A034-3AB0C1F4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484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rPr>
              <a:t>第一次阶段性评审   2026-10-08                                     05 / 09</a:t>
            </a:r>
          </a:p>
        </p:txBody>
      </p:sp>
    </p:spTree>
    <p:extLst>
      <p:ext uri="{BB962C8B-B14F-4D97-AF65-F5344CB8AC3E}">
        <p14:creationId xmlns:p14="http://schemas.microsoft.com/office/powerpoint/2010/main" val="11665353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25273E-B2A0-4077-8F5D-F17EE473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rPr>
              <a:t>软件工程实践  /  基线项目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B4F211-3470-4636-A487-B2921367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rPr>
              <a:t>前端实现要点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0D757C-2BCF-4DB2-8D9C-0A3EB89C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rPr>
              <a:t>界面交互与业务校验的分工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84DA1E-B4B3-4056-875D-2003D0E6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render  根据 hash 切换页面与检查登录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5C9F82-2483-4B7F-B766-7914537D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api  统一 JSON 请求与错误提示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AD596F-0A6F-42B6-8F29-97601108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esc  将用户输入作为文本显示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DA3340-5312-4F99-97CD-F7A2214E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renderVersion  避免旧响应覆盖新页面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95E0F8-6FC4-422D-8D4F-EAE3952F2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askConfirm  操作确认后再请求后端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8D6AE0-A370-4A9F-9294-093C9E0C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484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rPr>
              <a:t>第一次阶段性评审   2026-10-08                                     06 / 09</a:t>
            </a:r>
          </a:p>
        </p:txBody>
      </p:sp>
    </p:spTree>
    <p:extLst>
      <p:ext uri="{BB962C8B-B14F-4D97-AF65-F5344CB8AC3E}">
        <p14:creationId xmlns:p14="http://schemas.microsoft.com/office/powerpoint/2010/main" val="2791105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8FCCF9-75A2-45FE-AA2D-E3282A84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rPr>
              <a:t>软件工程实践  /  基线项目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960352-CA47-44E9-8AAC-EEDC8437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rPr>
              <a:t>当前验证与接入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9F0E7C-3CD7-4745-82A5-542A172B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rPr>
              <a:t>已有前端语法证据，完整系统待合并后验证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26BCD1-E6E4-45D8-A262-1A72B077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Node v24.14.1 语法检查通过，退出码 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47158C-A734-406F-89FF-55F9E536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检查命令与日志已归档，支持现场执行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980280-67C1-4F42-A169-3765736D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账号与集成已上传，另三个模块待汇入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5C4C1E-AF21-4775-BAD0-6F98833A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合并后验证冻结、失败恢复、成交和密码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1DC130-2655-4CCE-9EC2-2D11B048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录制真实测试运行，补充可下载证据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F9D44F-B321-4E41-B4E6-2AAF267A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484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rPr>
              <a:t>第一次阶段性评审   2026-10-08                                     07 / 09</a:t>
            </a:r>
          </a:p>
        </p:txBody>
      </p:sp>
    </p:spTree>
    <p:extLst>
      <p:ext uri="{BB962C8B-B14F-4D97-AF65-F5344CB8AC3E}">
        <p14:creationId xmlns:p14="http://schemas.microsoft.com/office/powerpoint/2010/main" val="5521041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9D5567-AF83-4D1A-9F93-C169934F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rPr>
              <a:t>软件工程实践  /  基线项目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B21DEB-918B-4260-90F6-E69C11F6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rPr>
              <a:t>后续迭代计划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462492-21F7-4EE3-9588-DECD432FA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rPr>
              <a:t>七次评审逐步完善基线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98C93E-4ACD-4A9A-AD47-C7ADB605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10/08  需求、模块边界与前端成果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926E43-76D7-4E32-A768-6815EA73F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10/22  代码汇入与接口接通；11/05 交易状态回归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A3E636-4402-4267-BDBA-2D259F2D5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11/19  认证、校验与异常处理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B06A7C-0A0A-48B8-852F-F4B9841DA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12/03  构建部署；12/17 全量回归与录屏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A491BC-60C9-4288-839D-36AD63EA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12/31  基线验收与成果归档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E64AD-0679-4907-B858-3C2AB1CA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484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rPr>
              <a:t>第一次阶段性评审   2026-10-08                                     08 / 09</a:t>
            </a:r>
          </a:p>
        </p:txBody>
      </p:sp>
    </p:spTree>
    <p:extLst>
      <p:ext uri="{BB962C8B-B14F-4D97-AF65-F5344CB8AC3E}">
        <p14:creationId xmlns:p14="http://schemas.microsoft.com/office/powerpoint/2010/main" val="12685260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8A38BD-D2F4-4D2D-802D-11D618D5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B60"/>
                </a:solidFill>
                <a:latin typeface="Microsoft YaHei"/>
                <a:ea typeface="Microsoft YaHei"/>
                <a:cs typeface="Microsoft YaHei"/>
              </a:rPr>
              <a:t>软件工程实践  /  基线项目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2F7D7C-B477-47C8-B2A4-46EF3461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73D32"/>
                </a:solidFill>
                <a:latin typeface="Microsoft YaHei"/>
                <a:ea typeface="Microsoft YaHei"/>
                <a:cs typeface="Microsoft YaHei"/>
              </a:rPr>
              <a:t>今晚交接与明天汇报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390DD-84CF-4F3F-B6EB-0C087A7EE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97166"/>
                </a:solidFill>
                <a:latin typeface="Microsoft YaHei"/>
                <a:ea typeface="Microsoft YaHei"/>
                <a:cs typeface="Microsoft YaHei"/>
              </a:rPr>
              <a:t>提交、核验和评审记录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42878E-AE8D-4050-A653-C76215F9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组员本人上传代码、README 与成果链接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E8F13A-F9CE-4F78-AE9B-6B9E66E3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补齐组号、姓名、迭代日期与量化进度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EBA09D-6A36-43A3-A45D-101D0E2B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工作表只列个人真实完成的具体任务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75CCC4-0A91-4ADF-9DCF-49C519C9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组长首次提交固定 Wiki Home 地址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D19A3E-76E2-4A34-9876-DF495CD1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3E34"/>
                </a:solidFill>
                <a:latin typeface="Microsoft YaHei"/>
                <a:ea typeface="Microsoft YaHei"/>
                <a:cs typeface="Microsoft YaHei"/>
              </a:rPr>
              <a:t>全员到场，评审后记录并回填教师意见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4C8290-C41D-4F79-A6EC-4ADF80BF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484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87970"/>
                </a:solidFill>
                <a:latin typeface="Microsoft YaHei"/>
                <a:ea typeface="Microsoft YaHei"/>
                <a:cs typeface="Microsoft YaHei"/>
              </a:rPr>
              <a:t>第一次阶段性评审   2026-10-08                                     09 / 09</a:t>
            </a:r>
          </a:p>
        </p:txBody>
      </p:sp>
    </p:spTree>
    <p:extLst>
      <p:ext uri="{BB962C8B-B14F-4D97-AF65-F5344CB8AC3E}">
        <p14:creationId xmlns:p14="http://schemas.microsoft.com/office/powerpoint/2010/main" val="11471394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2026-10-07T12:04:50.4680000Z</dcterms:created>
  <dcterms:modified xsi:type="dcterms:W3CDTF">2026-10-07T12:04:50.4680000Z</dcterms:modified>
</coreProperties>
</file>