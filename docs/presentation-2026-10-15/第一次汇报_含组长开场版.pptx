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428c820514764" /><Relationship Type="http://schemas.openxmlformats.org/officeDocument/2006/relationships/extended-properties" Target="/docProps/app.xml" Id="Rf2eb6f45f8c6416c" /><Relationship Type="http://schemas.openxmlformats.org/officeDocument/2006/relationships/officeDocument" Target="/ppt/presentation.xml" Id="R2afb807b913e45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e33479b294c13"/>
  </p:sldMasterIdLst>
  <p:notesMasterIdLst>
    <p:notesMasterId xmlns:r="http://schemas.openxmlformats.org/officeDocument/2006/relationships" r:id="R8ea1359630c64dae"/>
  </p:notesMasterIdLst>
  <p:sldIdLst>
    <p:sldId xmlns:r="http://schemas.openxmlformats.org/officeDocument/2006/relationships" id="256" r:id="Rfeafb5d794224e67"/>
    <p:sldId xmlns:r="http://schemas.openxmlformats.org/officeDocument/2006/relationships" id="257" r:id="Rea6d833120ac4cab"/>
    <p:sldId xmlns:r="http://schemas.openxmlformats.org/officeDocument/2006/relationships" id="258" r:id="Rce5500647a9a4275"/>
    <p:sldId xmlns:r="http://schemas.openxmlformats.org/officeDocument/2006/relationships" id="259" r:id="Rf95aa62e8ec64127"/>
    <p:sldId xmlns:r="http://schemas.openxmlformats.org/officeDocument/2006/relationships" id="260" r:id="R5950aec2304a4e6f"/>
    <p:sldId xmlns:r="http://schemas.openxmlformats.org/officeDocument/2006/relationships" id="261" r:id="R84b381237a8e427e"/>
    <p:sldId xmlns:r="http://schemas.openxmlformats.org/officeDocument/2006/relationships" id="262" r:id="R474ec6eae58a47e9"/>
    <p:sldId xmlns:r="http://schemas.openxmlformats.org/officeDocument/2006/relationships" id="263" r:id="R8109f81a11db463e"/>
    <p:sldId xmlns:r="http://schemas.openxmlformats.org/officeDocument/2006/relationships" id="264" r:id="Re41d7076c45e4d5d"/>
    <p:sldId xmlns:r="http://schemas.openxmlformats.org/officeDocument/2006/relationships" id="265" r:id="R5ccfffb53079443c"/>
    <p:sldId xmlns:r="http://schemas.openxmlformats.org/officeDocument/2006/relationships" id="266" r:id="R6d30de16271e48fb"/>
    <p:sldId xmlns:r="http://schemas.openxmlformats.org/officeDocument/2006/relationships" id="267" r:id="R536ab3a305f34b1b"/>
    <p:sldId xmlns:r="http://schemas.openxmlformats.org/officeDocument/2006/relationships" id="268" r:id="R7b438d21ea54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a91916a7b4876" /><Relationship Type="http://schemas.openxmlformats.org/officeDocument/2006/relationships/slideMaster" Target="/ppt/slideMasters/slideMaster1.xml" Id="R277e33479b294c13" /><Relationship Type="http://schemas.openxmlformats.org/officeDocument/2006/relationships/notesMaster" Target="/ppt/notesMasters/notesMaster1.xml" Id="R8ea1359630c64dae" /><Relationship Type="http://schemas.openxmlformats.org/officeDocument/2006/relationships/presProps" Target="/ppt/presProps.xml" Id="Rddd7764a03fb4ff7" /><Relationship Type="http://schemas.openxmlformats.org/officeDocument/2006/relationships/tableStyles" Target="/ppt/tableStyles.xml" Id="R760afdad83fc4498" /><Relationship Type="http://schemas.openxmlformats.org/officeDocument/2006/relationships/slide" Target="/ppt/slides/slide1.xml" Id="Rfeafb5d794224e67" /><Relationship Type="http://schemas.openxmlformats.org/officeDocument/2006/relationships/slide" Target="/ppt/slides/slide2.xml" Id="Rea6d833120ac4cab" /><Relationship Type="http://schemas.openxmlformats.org/officeDocument/2006/relationships/slide" Target="/ppt/slides/slide3.xml" Id="Rce5500647a9a4275" /><Relationship Type="http://schemas.openxmlformats.org/officeDocument/2006/relationships/slide" Target="/ppt/slides/slide4.xml" Id="Rf95aa62e8ec64127" /><Relationship Type="http://schemas.openxmlformats.org/officeDocument/2006/relationships/slide" Target="/ppt/slides/slide5.xml" Id="R5950aec2304a4e6f" /><Relationship Type="http://schemas.openxmlformats.org/officeDocument/2006/relationships/slide" Target="/ppt/slides/slide6.xml" Id="R84b381237a8e427e" /><Relationship Type="http://schemas.openxmlformats.org/officeDocument/2006/relationships/slide" Target="/ppt/slides/slide7.xml" Id="R474ec6eae58a47e9" /><Relationship Type="http://schemas.openxmlformats.org/officeDocument/2006/relationships/slide" Target="/ppt/slides/slide8.xml" Id="R8109f81a11db463e" /><Relationship Type="http://schemas.openxmlformats.org/officeDocument/2006/relationships/slide" Target="/ppt/slides/slide9.xml" Id="Re41d7076c45e4d5d" /><Relationship Type="http://schemas.openxmlformats.org/officeDocument/2006/relationships/slide" Target="/ppt/slides/slide10.xml" Id="R5ccfffb53079443c" /><Relationship Type="http://schemas.openxmlformats.org/officeDocument/2006/relationships/slide" Target="/ppt/slides/slide11.xml" Id="R6d30de16271e48fb" /><Relationship Type="http://schemas.openxmlformats.org/officeDocument/2006/relationships/slide" Target="/ppt/slides/slide12.xml" Id="R536ab3a305f34b1b" /><Relationship Type="http://schemas.openxmlformats.org/officeDocument/2006/relationships/slide" Target="/ppt/slides/slide13.xml" Id="R7b438d21ea54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6165055d62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02974d45c24bc5" /><Relationship Type="http://schemas.openxmlformats.org/officeDocument/2006/relationships/notesMaster" Target="/ppt/notesMasters/notesMaster1.xml" Id="R8e1bd2bb9cea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89daac8185484b" /><Relationship Type="http://schemas.openxmlformats.org/officeDocument/2006/relationships/notesMaster" Target="/ppt/notesMasters/notesMaster1.xml" Id="R36cd214e732244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dfccac3dd24afb" /><Relationship Type="http://schemas.openxmlformats.org/officeDocument/2006/relationships/notesMaster" Target="/ppt/notesMasters/notesMaster1.xml" Id="Rb2aa6f025ed64c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6ca7c76b0d412e" /><Relationship Type="http://schemas.openxmlformats.org/officeDocument/2006/relationships/notesMaster" Target="/ppt/notesMasters/notesMaster1.xml" Id="R67359ad4213940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7f0dbf64745c8" /><Relationship Type="http://schemas.openxmlformats.org/officeDocument/2006/relationships/notesMaster" Target="/ppt/notesMasters/notesMaster1.xml" Id="R2ff9f9c4ab3444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d093b533364264" /><Relationship Type="http://schemas.openxmlformats.org/officeDocument/2006/relationships/notesMaster" Target="/ppt/notesMasters/notesMaster1.xml" Id="Ra0601510c73a40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1a808cbefc4f61" /><Relationship Type="http://schemas.openxmlformats.org/officeDocument/2006/relationships/notesMaster" Target="/ppt/notesMasters/notesMaster1.xml" Id="Rb63bdf1678244c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224d2738cd410c" /><Relationship Type="http://schemas.openxmlformats.org/officeDocument/2006/relationships/notesMaster" Target="/ppt/notesMasters/notesMaster1.xml" Id="Rf441971bb0af4f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1e467c38514478" /><Relationship Type="http://schemas.openxmlformats.org/officeDocument/2006/relationships/notesMaster" Target="/ppt/notesMasters/notesMaster1.xml" Id="Rc12444d09dd446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475c6558a648ac" /><Relationship Type="http://schemas.openxmlformats.org/officeDocument/2006/relationships/notesMaster" Target="/ppt/notesMasters/notesMaster1.xml" Id="R7470d8483b5442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eacccc10a643d4" /><Relationship Type="http://schemas.openxmlformats.org/officeDocument/2006/relationships/notesMaster" Target="/ppt/notesMasters/notesMaster1.xml" Id="Ra5783194b82443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c6b4f14b324cab" /><Relationship Type="http://schemas.openxmlformats.org/officeDocument/2006/relationships/notesMaster" Target="/ppt/notesMasters/notesMaster1.xml" Id="Rf297ea05d53a49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85a5f14a9b4fdc" /><Relationship Type="http://schemas.openxmlformats.org/officeDocument/2006/relationships/notesMaster" Target="/ppt/notesMasters/notesMaster1.xml" Id="R3bdb1468ddec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【组长开场，约 15 秒】</a:t>
            </a:r>
          </a:p>
          <a:p xmlns:a="http://schemas.openxmlformats.org/drawingml/2006/main">
            <a:r>
              <a:t>各位老师、同学好，我们是第十二组，我是组长王暾。我们小组的项目是在线购物系统。接下来由我先简单介绍系统的用途和小组分工，然后各位成员依次讲解自己负责的模块。</a:t>
            </a:r>
          </a:p>
          <a:p xmlns:a="http://schemas.openxmlformats.org/drawingml/2006/main">
            <a:r>
              <a:t>资料：项目 README.md；https://github.com/LittleChenLiya/online-shopping-mvp/wiki/需求规格说明书；https://github.com/LittleChenLiya/online-shopping-mvp/wiki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【系统简介，约 50～60 秒】</a:t>
            </a:r>
          </a:p>
          <a:p xmlns:a="http://schemas.openxmlformats.org/drawingml/2006/main">
            <a:r>
              <a:t>我们的系统面向单一卖家的商品交易场景。买家不需要注册账号，就可以浏览商品，并填写姓名、电话等信息提交购买意向。卖家登录后台后，可以发布商品、查看购买意向并管理交易。</a:t>
            </a:r>
          </a:p>
          <a:p xmlns:a="http://schemas.openxmlformats.org/drawingml/2006/main">
            <a:r>
              <a:t>整个业务过程是：卖家发布商品，买家提交意向，卖家选择一位买家并冻结商品，然后双方在线下交钱交货。交易成功后，商品下架并保留历史记录。如果交易失败，商品恢复在售，可以继续接收意向。</a:t>
            </a:r>
          </a:p>
          <a:p xmlns:a="http://schemas.openxmlformats.org/drawingml/2006/main">
            <a:r>
              <a:t>这里有两个边界：提交意向本身不会自动冻结商品，也不代表已经付款。另外，同一时间最多只有一件在售或冻结商品，上一件成交后才能发布下一件。本次实现不包含购物车和在线支付。</a:t>
            </a:r>
          </a:p>
          <a:p xmlns:a="http://schemas.openxmlformats.org/drawingml/2006/main">
            <a:r>
              <a:t>【衔接】围绕这个业务流程，我们把系统拆分成五个模块。</a:t>
            </a:r>
          </a:p>
          <a:p xmlns:a="http://schemas.openxmlformats.org/drawingml/2006/main">
            <a:r>
              <a:t>【追问准备】前端使用 HTML、CSS、JavaScript，后端使用 Python 标准库 HTTP 服务与 SQLite。五个模块通过接口和共享数据库组成同一个系统。</a:t>
            </a:r>
          </a:p>
          <a:p xmlns:a="http://schemas.openxmlformats.org/drawingml/2006/main">
            <a:r>
              <a:t>资料：项目 README.md；https://github.com/LittleChenLiya/online-shopping-mvp/wiki/需求规格说明书；https://github.com/LittleChenLiya/online-shopping-mvp/wiki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【小组分工，约 40～50 秒】</a:t>
            </a:r>
          </a:p>
          <a:p xmlns:a="http://schemas.openxmlformats.org/drawingml/2006/main">
            <a:r>
              <a:t>我们五个人按模块分工，这一页也就是接下来的汇报顺序。</a:t>
            </a:r>
          </a:p>
          <a:p xmlns:a="http://schemas.openxmlformats.org/drawingml/2006/main">
            <a:r>
              <a:t>谢相逸负责前端界面，包括买家和卖家页面、表单交互以及接口对接。</a:t>
            </a:r>
          </a:p>
          <a:p xmlns:a="http://schemas.openxmlformats.org/drawingml/2006/main">
            <a:r>
              <a:t>余昕越负责商品浏览和购买意向，包括商品查询与买家信息校验。</a:t>
            </a:r>
          </a:p>
          <a:p xmlns:a="http://schemas.openxmlformats.org/drawingml/2006/main">
            <a:r>
              <a:t>我负责商品发布与历史，包括发布逻辑、价格和图片校验以及历史查询。</a:t>
            </a:r>
          </a:p>
          <a:p xmlns:a="http://schemas.openxmlformats.org/drawingml/2006/main">
            <a:r>
              <a:t>黄扬轩负责交易与冻结，包括选择买家、冻结商品以及交易成功或失败后的处理。</a:t>
            </a:r>
          </a:p>
          <a:p xmlns:a="http://schemas.openxmlformats.org/drawingml/2006/main">
            <a:r>
              <a:t>曾大君负责卖家账号与系统集成，包括登录、修改密码、共享数据库、统一服务入口和集成测试。</a:t>
            </a:r>
          </a:p>
          <a:p xmlns:a="http://schemas.openxmlformats.org/drawingml/2006/main">
            <a:r>
              <a:t>五个模块通过统一接口和共享数据库协作，组成同一个购物系统。下面先请谢相逸介绍前端界面部分。</a:t>
            </a:r>
          </a:p>
          <a:p xmlns:a="http://schemas.openxmlformats.org/drawingml/2006/main">
            <a:r>
              <a:t>资料：项目 README.md；https://github.com/LittleChenLiya/online-shopping-mvp/wiki/需求规格说明书；https://github.com/LittleChenLiya/online-shopping-mvp/wiki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前端，主要实现页面切换、商品展示和表单API对接。render根据hash决定显示哪个页面。attachForm阻止表单默认跳转，读取字段后调用api。提交时禁用按钮用于减少重复点击；服务器仍需独立检查重复提交。api处理状态码和错误信息，浏览器自动携带同源Cookie。老师问为什么不用多个HTML：本项目页面较少，hash切换即可复用导航与主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代码依据：https://github.com/LittleChenLiya/online-shopping-mvp/tree/main/01_%E5%89%8D%E7%AB%AF%E7%95%8C%E9%9D%A2%2Fapp.js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例如先打开商品页又马上切到后台，商品请求可能后返回。renderVersion让它不能覆盖当前页。esc使描述或姓名中的标签按普通文本显示。readImage读取为Data URL，askConfirm使用页面内dialog，取消不会发交易请求。老师问按钮被禁用是否足够：不够，用户可以绕开前端，后端必须验证身份、状态与事务。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代码依据：https://github.com/LittleChenLiya/online-shopping-mvp/tree/main/01_%E5%89%8D%E7%AB%AF%E7%95%8C%E9%9D%A2%2Fapp.js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买家端两个API。当前商品查询条件是active或frozen，不查询sold。唯一商品约束保证正常情况下最多一条。public_product由基础设施模块提供，白名单筛选公开字段。老师问冻结为何还展示：冻结只是暂时停止交易，失败后可能恢复；成交后才从公开查询中消失。商品查询无需买家登录，符合无注册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代码依据：https://github.com/LittleChenLiya/online-shopping-mvp/tree/main/02_%E5%95%86%E5%93%81%E6%B5%8F%E8%A7%88%E4%B8%8E%E8%B4%AD%E4%B9%B0%E6%84%8F%E5%90%91%2Fbuyer.py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姓名1到40字，电话原输入6到30字符并做格式校验，备注最多300字。电话号码先去空格、括号和横线，避免格式差异重复提交。写事务先锁定写入，再检查在售状态和插入，避免检查后商品突然被冻结。唯一约束在数据库层兜底。老师问电话格式校验能否证明号码真实：不能，本项目没有短信验证。冻结后旧页面继续提交也会被后端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代码依据：https://github.com/LittleChenLiya/online-shopping-mvp/tree/main/02_%E5%95%86%E5%93%81%E6%B5%8F%E8%A7%88%E4%B8%8E%E8%B4%AD%E4%B9%B0%E6%84%8F%E5%90%91%2Fbuyer.py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【第 8 页讲稿，约 70～90 秒】</a:t>
            </a:r>
          </a:p>
          <a:p xmlns:a="http://schemas.openxmlformats.org/drawingml/2006/main">
            <a:r>
              <a:t>大家好，我是王暾，负责 03 商品发布与历史模块，主要完成 products.py 和配套说明文档。</a:t>
            </a:r>
          </a:p>
          <a:p xmlns:a="http://schemas.openxmlformats.org/drawingml/2006/main">
            <a:r>
              <a:t>这一页介绍商品发布。系统会先调用账号模块提供的 require_seller 验证登录，再检查名称、描述、价格和图片。检查通过后，在数据库写事务中判断是否已有未售商品，没有才插入一条在售商品记录。</a:t>
            </a:r>
          </a:p>
          <a:p xmlns:a="http://schemas.openxmlformats.org/drawingml/2006/main">
            <a:r>
              <a:t>这里最重要的需求是：同一时间最多存在一件未售出的商品。在售和冻结都占用这个名额，只有已售后才允许发布下一件。冻结仍占名额，是因为交易还没完成，如果交易失败，原商品需要恢复在售。</a:t>
            </a:r>
          </a:p>
          <a:p xmlns:a="http://schemas.openxmlformats.org/drawingml/2006/main">
            <a:r>
              <a:t>为了避免两个请求同时通过检查，我们使用 05 模块提供的写事务，并配合数据库中的 one_unsold_product 唯一索引。我的发布逻辑负责检查、插入以及冲突提示。已有未售商品时返回 409。</a:t>
            </a:r>
          </a:p>
          <a:p xmlns:a="http://schemas.openxmlformats.org/drawingml/2006/main">
            <a:r>
              <a:t>例如，发布一件二手键盘后，在售或冻结期间都不能发布第二件，成交后才可以继续发布。</a:t>
            </a:r>
          </a:p>
          <a:p xmlns:a="http://schemas.openxmlformats.org/drawingml/2006/main">
            <a:r>
              <a:t>【追问准备】</a:t>
            </a:r>
          </a:p>
          <a:p xmlns:a="http://schemas.openxmlformats.org/drawingml/2006/main">
            <a:r>
              <a:t>共享事务使用 BEGIN IMMEDIATE，先取得写锁，再执行检查和插入。唯一索引只覆盖 active 与 frozen 状态。</a:t>
            </a:r>
          </a:p>
          <a:p xmlns:a="http://schemas.openxmlformats.org/drawingml/2006/main">
            <a:r>
              <a:t>require_seller、connection 和数据库索引属于 05 模块的共享能力，我在 03 模块中调用与配合使用。</a:t>
            </a:r>
          </a:p>
          <a:p xmlns:a="http://schemas.openxmlformats.org/drawingml/2006/main">
            <a:r>
              <a:t>发布接口：POST /api/products。未登录返回 401。</a:t>
            </a:r>
          </a:p>
          <a:p xmlns:a="http://schemas.openxmlformats.org/drawingml/2006/main">
            <a:r>
              <a:t>资料：https://github.com/LittleChenLiya/online-shopping-mvp/wiki/成果物-商品发布与历史</a:t>
            </a:r>
          </a:p>
          <a:p xmlns:a="http://schemas.openxmlformats.org/drawingml/2006/main">
            <a:r>
              <a:t>代码：03_商品发布与历史/products.py；05_卖家账号与系统集成/database.py。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【第 9 页讲稿，约 70～90 秒】</a:t>
            </a:r>
          </a:p>
          <a:p xmlns:a="http://schemas.openxmlformats.org/drawingml/2006/main">
            <a:r>
              <a:t>这一页介绍输入校验和商品历史。</a:t>
            </a:r>
          </a:p>
          <a:p xmlns:a="http://schemas.openxmlformats.org/drawingml/2006/main">
            <a:r>
              <a:t>价格方面，前端输入以元为单位，后端先检查格式，再使用 Decimal 转换为整数分保存。比如 19.90 元保存为 1990 分，目的是避免浮点数的金额精度问题。价格必须大于零，最多两位小数。</a:t>
            </a:r>
          </a:p>
          <a:p xmlns:a="http://schemas.openxmlformats.org/drawingml/2006/main">
            <a:r>
              <a:t>图片方面，后端检查 Data URL 和 Base64 编码，支持 PNG、JPEG 和 WebP，并检查文件头和 2 MB 大小限制。这里做的是基本格式检查，并没有完整解码图片，也不是图片安全扫描。</a:t>
            </a:r>
          </a:p>
          <a:p xmlns:a="http://schemas.openxmlformats.org/drawingml/2006/main">
            <a:r>
              <a:t>历史查询需要卖家登录，会按编号倒序返回在售、冻结和已售商品，保留发布时间和成交时间。因此商品成交后，卖家仍然能查看记录。成交时间由交易模块在成交时写入，我的模块负责查询返回。</a:t>
            </a:r>
          </a:p>
          <a:p xmlns:a="http://schemas.openxmlformats.org/drawingml/2006/main">
            <a:r>
              <a:t>根据 10 月 8 日 Wiki 的接口验证记录，非法价格和图片会被拒绝，商品变为已售后可以发布下一件，原商品仍保留在历史中。这些是接口层的验证记录，不能据此声称已经完成全部界面验收。</a:t>
            </a:r>
          </a:p>
          <a:p xmlns:a="http://schemas.openxmlformats.org/drawingml/2006/main">
            <a:r>
              <a:t>我的部分介绍到这里。接下来由黄扬轩介绍商品发布之后的冻结和成交处理。</a:t>
            </a:r>
          </a:p>
          <a:p xmlns:a="http://schemas.openxmlformats.org/drawingml/2006/main">
            <a:r>
              <a:t>【追问准备】</a:t>
            </a:r>
          </a:p>
          <a:p xmlns:a="http://schemas.openxmlformats.org/drawingml/2006/main">
            <a:r>
              <a:t>历史接口：GET /api/products，与发布接口路径相同、HTTP 方法不同。</a:t>
            </a:r>
          </a:p>
          <a:p xmlns:a="http://schemas.openxmlformats.org/drawingml/2006/main">
            <a:r>
              <a:t>0、负数、12.345 等价格不符合要求，上限为 9999999.99 元。</a:t>
            </a:r>
          </a:p>
          <a:p xmlns:a="http://schemas.openxmlformats.org/drawingml/2006/main">
            <a:r>
              <a:t>历史目前一次返回全部记录，没有分页，也不提供商品编辑和删除接口。</a:t>
            </a:r>
          </a:p>
          <a:p xmlns:a="http://schemas.openxmlformats.org/drawingml/2006/main">
            <a:r>
              <a:t>上述测试结果引用已有记录，本次修改 PPT 没有重新执行测试。</a:t>
            </a:r>
          </a:p>
          <a:p xmlns:a="http://schemas.openxmlformats.org/drawingml/2006/main">
            <a:r>
              <a:t>资料：https://github.com/LittleChenLiya/online-shopping-mvp/wiki/成果物-商品发布与历史</a:t>
            </a:r>
          </a:p>
          <a:p xmlns:a="http://schemas.openxmlformats.org/drawingml/2006/main">
            <a:r>
              <a:t>代码：03_商品发布与历史/products.py。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卖家交易流程。查询先验证卖家，JOIN为意向和事件补商品名称、买家姓名。冻结时同时检查意向id和product_id，防止错选别的商品买家。selected_intent_id记住这次交易对象；后续成交或失败使用数据库里保存的编号，不相信前端另传买家。冻结后新意向由成员2接口拒绝。老师问提交意向是否自动冻结：不会，卖家确认对象后才冻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代码依据：https://github.com/LittleChenLiya/online-shopping-mvp/tree/main/04_%E4%BA%A4%E6%98%93%E4%B8%8E%E5%86%BB%E7%BB%93%E7%AE%A1%E7%90%86%2Ftrades.py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下交钱交货后卖家确认结果。成功记录sold_at并允许下一件发布；失败保留商品和买家意向，方便继续联系。所有状态与事件写入在一个事务内，一步异常全部回滚。老师问如何知道线下付款真实完成：由卖家确认，系统不接在线支付。重复成交发现状态已经sold会拒绝。T07到T09实际结果应按成员真实执行补入，源码逻辑不冒充测试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代码依据：https://github.com/LittleChenLiya/online-shopping-mvp/tree/main/04_%E4%BA%A4%E6%98%93%E4%B8%8E%E5%86%BB%E7%BB%93%E7%AE%A1%E7%90%86%2Ftrades.py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账号与基础设施。seller表只有固定卖家，没有注册接口。PBKDF2为260000轮，盐随机生成，避免明文密码和相同密码相同哈希。随机会话令牌的原值在Cookie中，数据库只存SHA-256哈希和过期时间。Cookie设HttpOnly与SameSite=Strict。修改密码在事务中复核会话并清空所有登录，不只是当前浏览器退出。默认是本机HTTP演示配置，不直接声称满足公网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代码依据：https://github.com/LittleChenLiya/online-shopping-mvp/tree/main/05_%E5%8D%96%E5%AE%B6%E8%B4%A6%E5%8F%B7%E4%B8%8E%E7%B3%BB%E7%BB%9F%E9%9B%86%E6%88%90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包含seller、sessions、products、intents和trade_events。一个商品关联多个意向，冻结时保存所选意向。server合并四个业务模块路由，限制JSON体大小、检查POST安全标识和Origin，只提供允许的静态路径。数据库唯一索引与写事务保证并发一致性。六组测试有现有成果页记录，但公开main缺根start.py，不能沿用旧Wiki里“根入口已经上传”的说法；完整服务启动和页面回归需以实际代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代码依据：https://github.com/LittleChenLiya/online-shopping-mvp/tree/main/05_%E5%8D%96%E5%AE%B6%E8%B4%A6%E5%8F%B7%E4%B8%8E%E7%B3%BB%E7%BB%9F%E9%9B%86%E6%88%90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61db040674a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2ce01a73141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e2e42cffb45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c509bccfb48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ee806521542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03dea066d47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83F81-06CC-454C-BBED-65E35B244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6BE0C0-9A0D-40ED-8516-9268716A7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745DE3-A88F-48DD-B07E-F5E9D3C21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BF2E97-D858-4BEA-8B57-23C9402CE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1C5ADA-9802-45BD-849A-BEDCDB38D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88A787-FD15-463D-8727-49781C8AD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38D746-7576-4BF9-BDB8-D77B700A6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9568B1-95B9-4D3F-BA90-616CF216ED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B4E8DC-5AEB-4B3B-8024-3DC1DDD53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69BE7B-7541-4758-93D6-9A88293671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a0b9dbd29041d2" /><Relationship Type="http://schemas.openxmlformats.org/officeDocument/2006/relationships/slideLayout" Target="/ppt/slideLayouts/slideLayout1.xml" Id="Rdf3a9b222e004b7c" /><Relationship Type="http://schemas.openxmlformats.org/officeDocument/2006/relationships/slideLayout" Target="/ppt/slideLayouts/slideLayout2.xml" Id="Rcd1bd9d9dc7f4e57" /><Relationship Type="http://schemas.openxmlformats.org/officeDocument/2006/relationships/slideLayout" Target="/ppt/slideLayouts/slideLayout3.xml" Id="R11a5f045cb5a4820" /><Relationship Type="http://schemas.openxmlformats.org/officeDocument/2006/relationships/slideLayout" Target="/ppt/slideLayouts/slideLayout4.xml" Id="R44c17fb38e2c489d" /><Relationship Type="http://schemas.openxmlformats.org/officeDocument/2006/relationships/slideLayout" Target="/ppt/slideLayouts/slideLayout5.xml" Id="Rbb89e17a6b03445d" /><Relationship Type="http://schemas.openxmlformats.org/officeDocument/2006/relationships/slideLayout" Target="/ppt/slideLayouts/slideLayout6.xml" Id="R64ee30c060e9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a9b222e004b7c"/>
    <p:sldLayoutId xmlns:r="http://schemas.openxmlformats.org/officeDocument/2006/relationships" id="2147483650" r:id="Rcd1bd9d9dc7f4e57"/>
    <p:sldLayoutId xmlns:r="http://schemas.openxmlformats.org/officeDocument/2006/relationships" id="2147483651" r:id="R11a5f045cb5a4820"/>
    <p:sldLayoutId xmlns:r="http://schemas.openxmlformats.org/officeDocument/2006/relationships" id="2147483652" r:id="R44c17fb38e2c489d"/>
    <p:sldLayoutId xmlns:r="http://schemas.openxmlformats.org/officeDocument/2006/relationships" id="2147483653" r:id="Rbb89e17a6b03445d"/>
    <p:sldLayoutId xmlns:r="http://schemas.openxmlformats.org/officeDocument/2006/relationships" id="2147483654" r:id="R64ee30c060e9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756a279904b79" /><Relationship Type="http://schemas.openxmlformats.org/officeDocument/2006/relationships/notesSlide" Target="/ppt/notesSlides/notesSlide1.xml" Id="Rf5b172eee77946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8064657e549d8" /><Relationship Type="http://schemas.openxmlformats.org/officeDocument/2006/relationships/notesSlide" Target="/ppt/notesSlides/notesSlide2.xml" Id="R69facd198dd344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d05ae32ec4d56" /><Relationship Type="http://schemas.openxmlformats.org/officeDocument/2006/relationships/notesSlide" Target="/ppt/notesSlides/notesSlide3.xml" Id="Re325ecce1507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963703a2b4844" /><Relationship Type="http://schemas.openxmlformats.org/officeDocument/2006/relationships/notesSlide" Target="/ppt/notesSlides/notesSlide4.xml" Id="Ra80dd03f496945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ba26e4dd3487b" /><Relationship Type="http://schemas.openxmlformats.org/officeDocument/2006/relationships/notesSlide" Target="/ppt/notesSlides/notesSlide5.xml" Id="R5e3828928ee64e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0637a5c7b4463" /><Relationship Type="http://schemas.openxmlformats.org/officeDocument/2006/relationships/notesSlide" Target="/ppt/notesSlides/notesSlide6.xml" Id="Ra758231a75aa47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a44e33f93433e" /><Relationship Type="http://schemas.openxmlformats.org/officeDocument/2006/relationships/notesSlide" Target="/ppt/notesSlides/notesSlide7.xml" Id="R39de7fea738142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bb443639645e9" /><Relationship Type="http://schemas.openxmlformats.org/officeDocument/2006/relationships/notesSlide" Target="/ppt/notesSlides/notesSlide8.xml" Id="Rdcff4e7d1f1643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5ce98ed554a71" /><Relationship Type="http://schemas.openxmlformats.org/officeDocument/2006/relationships/notesSlide" Target="/ppt/notesSlides/notesSlide9.xml" Id="R7c42841041d74c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87b006ddd45a1" /><Relationship Type="http://schemas.openxmlformats.org/officeDocument/2006/relationships/notesSlide" Target="/ppt/notesSlides/notesSlide10.xml" Id="Re8d3ab67878d43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c22821b354130" /><Relationship Type="http://schemas.openxmlformats.org/officeDocument/2006/relationships/notesSlide" Target="/ppt/notesSlides/notesSlide11.xml" Id="R1ebca16dba8749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cba0a59804b21" /><Relationship Type="http://schemas.openxmlformats.org/officeDocument/2006/relationships/notesSlide" Target="/ppt/notesSlides/notesSlide12.xml" Id="R4d0e10a17a3848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4b61ce04b4ad3" /><Relationship Type="http://schemas.openxmlformats.org/officeDocument/2006/relationships/notesSlide" Target="/ppt/notesSlides/notesSlide13.xml" Id="R7690fd73031741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AA764-5F5C-4950-9B11-12ABEF6C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在线购物系统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118C2-51ED-4214-A281-CBB3F0E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第十二组项目与个人工作汇报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13FD7-E355-41DC-911A-D7B2D578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谢相逸  余昕越  王暾  黄扬轩  曾大君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FFEDE-81E0-42B7-BF19-E5ECF31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组长：王暾    系统简介、小组分工与模块实现</a:t>
            </a:r>
          </a:p>
        </p:txBody>
      </p:sp>
    </p:spTree>
    <p:extLst>
      <p:ext uri="{BB962C8B-B14F-4D97-AF65-F5344CB8AC3E}">
        <p14:creationId xmlns:p14="http://schemas.microsoft.com/office/powerpoint/2010/main" val="1895087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BDCCB-F4FD-446A-9DC4-92A14C6D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组长开场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E610-625D-4FF2-9CE6-0E9040F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系统简介与业务流程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450D0-B36F-4AFD-A1D7-4FB9F1C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系统定位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C1C5C-3F48-495B-BD98-220A689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面向单一卖家的购物系统，支持商品展示、购买意向与交易管理。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5F8A7-8AF8-4155-BC62-E81CCDE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买卖双方的操作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0E9F4-FC34-48BD-B5C1-B8F4339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买家无需注册即可浏览、提交意向。卖家登录后发布与管理商品。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1CCD-BB7E-44B4-8920-16BE178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主要交易流程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7924A-18E0-4058-AD8E-AFF5AC2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发布商品、提交意向、选择买家并冻结，随后在线下交钱交货。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6F3C-B33A-4CCC-BA16-DD9630A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交易结果与范围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2DBC-5F79-4D57-9581-F3AB49C4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成功后下架并保留历史，失败则恢复在售。同时最多一件未售商品。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EECCE-3466-4F8C-95BE-D88C2BF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682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BDCCB-F4FD-446A-9DC4-92A14C6D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组长开场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E610-625D-4FF2-9CE6-0E9040F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小组分工与汇报顺序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450D0-B36F-4AFD-A1D7-4FB9F1C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01  谢相逸：前端界面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C1C5C-3F48-495B-BD98-220A689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买家与卖家页面、表单交互及 API 对接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5F8A7-8AF8-4155-BC62-E81CCDE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02  余昕越：商品浏览与购买意向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0E9F4-FC34-48BD-B5C1-B8F4339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当前商品查询、买家信息校验与购买意向提交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1CCD-BB7E-44B4-8920-16BE178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03  王暾：商品发布与历史（组长）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7924A-18E0-4058-AD8E-AFF5AC2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商品发布、价格和图片校验、历史查询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6F3C-B33A-4CCC-BA16-DD9630A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04  黄扬轩：交易与冻结管理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2DBC-5F79-4D57-9581-F3AB49C4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查看意向、选择买家冻结、成交下架与失败恢复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EECCE-3466-4F8C-95BE-D88C2BF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A19FE-2DB1-4CAB-A455-3E17684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>
            <a:defPPr>
              <a:defRPr sz="2025" b="1">
                <a:solidFill>
                  <a:srgbClr val="193E34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</a:defRPr>
            </a:pPr>
            <a:r>
              <a:rPr sz="2025" b="1">
                <a:solidFill>
                  <a:srgbClr val="193E34"/>
                </a:solidFill>
              </a:rPr>
              <a:t>05  曾大君：卖家账号与系统集成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08B65-7AA1-4A27-B001-4E5F93EA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>
            <a:defPPr>
              <a:defRPr sz="1875" b="0">
                <a:solidFill>
                  <a:srgbClr val="193E34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</a:defRPr>
            </a:pPr>
            <a:r>
              <a:rPr sz="1875" b="0">
                <a:solidFill>
                  <a:srgbClr val="193E34"/>
                </a:solidFill>
              </a:rPr>
              <a:t>登录与改密码、共享数据库、服务集成与测试</a:t>
            </a:r>
          </a:p>
        </p:txBody>
      </p:sp>
    </p:spTree>
    <p:extLst>
      <p:ext uri="{BB962C8B-B14F-4D97-AF65-F5344CB8AC3E}">
        <p14:creationId xmlns:p14="http://schemas.microsoft.com/office/powerpoint/2010/main" val="6822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BDCCB-F4FD-446A-9DC4-92A14C6D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谢相逸   前端页面与 API 对接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E610-625D-4FF2-9CE6-0E9040F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页面组织与表单提交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450D0-B36F-4AFD-A1D7-4FB9F1C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页面切换  render()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C1C5C-3F48-495B-BD98-220A689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根据 #shop、#buy 等 hash 选择页面；后台页面先检查登录。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5F8A7-8AF8-4155-BC62-E81CCDE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商品与意向页面  shop() / buy()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0E9F4-FC34-48BD-B5C1-B8F4339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读取商品并展示价格和状态；在售时显示购买意向表单。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1CCD-BB7E-44B4-8920-16BE178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统一提交  attachForm() / api()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7924A-18E0-4058-AD8E-AFF5AC2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读取表单、禁用提交按钮；发送 JSON 并统一提示后端错误。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6F3C-B33A-4CCC-BA16-DD9630A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2DBC-5F79-4D57-9581-F3AB49C4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点击“我想购买”，填写姓名和电话，提交后显示意向编号。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EECCE-3466-4F8C-95BE-D88C2BF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6822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2D23F-1ED9-455B-8F73-F0BFB26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谢相逸   前端页面与 API 对接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7DF99-92D4-42C4-B31E-EB7DDA70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异步请求与输入显示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FD802-91B0-4A24-BA86-62B17D0A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避免旧响应覆盖  renderVersion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AD762-79ED-435A-8042-E141A81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每次切页递增版本；旧请求返回时先比较版本，再渲染。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08EC9-0908-4A64-9960-4879D42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显示用户文本  esc()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E555D-D894-439C-AF90-A7D83E8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把 &lt;、&gt;、引号等转义，避免姓名、描述被解释为 HTML。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FB530-EA3D-40D1-A24E-13255E2C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图片与确认  readImage() / askConfirm()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ECD1D-ABBE-47AD-95B8-3F4FC8F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预览前检查图片类型和大小；交易操作确认后才调用 API。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FC31E-7149-4463-9863-A65132CF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边界与分工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D3B09-1EBD-4712-A626-E7BE953D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前端校验改善交互；权限、商品状态和金额规则由后端校验。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505D9-0FA2-4704-8D3E-552A2DF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11510787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E6A6D-19F9-4F83-A81C-DF580091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余昕越   商品浏览与购买意向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FEE17-6D2D-4822-8FC8-75ADDB4A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当前商品查询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CC204-8AF5-4A83-8C1A-1AF6F36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公开查询  get_current_product()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D7DF4-DB67-4934-A138-B34D48B1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GET /api/product 查询 active 或 frozen 商品；没有时返回 null。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FBF8-C75E-40DE-8834-1689B05D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公开字段  public_product()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29F40-54A4-46E1-94BF-7C1E751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只返回名称、描述、图片、价格等字段；不暴露买家信息。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0605D-8281-438B-A53A-7170D101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状态展示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04125-F69C-42AB-927E-98CF07C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冻结商品仍可查看，但提交意向接口只接受 active 商品。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49B51-26BD-4479-88EF-AAB45405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869D1-451F-4247-9100-1A4E4667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发布后能查到商品；成交下架后查询返回 product: null。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2954B-2506-491F-AB50-6043874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  <p:extLst>
      <p:ext uri="{BB962C8B-B14F-4D97-AF65-F5344CB8AC3E}">
        <p14:creationId xmlns:p14="http://schemas.microsoft.com/office/powerpoint/2010/main" val="1400081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DDB69-CB00-4964-9D5C-6102E3BF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余昕越   商品浏览与购买意向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9D0C4-AECE-49DE-BF95-3B56C5EB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意向提交与重复校验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D2A61-30E4-4716-ADE4-407D856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字段校验  submit_intent()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D57AF-006E-44A4-AC1B-C946D2D0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检查商品编号、姓名、电话与备注；移除电话中的空格和横线。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1D387-820A-49AC-B43F-E02FCB7A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状态复核  connection(write=True)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71F2B-A9AD-4247-8B71-FCA36CFE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在写事务内重新查询商品，非 active 状态返回 409。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17190-749E-402B-B297-1BF2BA8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重复处理  UNIQUE(product_id, contact)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A713A-BCB4-4591-B5AE-7FFB3DF4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同商品相同规范化电话不能重复；捕获约束异常并提示。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4F530-834E-4BF9-82E3-4B7992F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保存结果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BE008-F775-4906-BBD5-DB40F4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写入 intents，返回 lastrowid；提交意向不等于付款或成交。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C6BF8-EA2E-4B8E-97DB-6C4ECFB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  <p:extLst>
      <p:ext uri="{BB962C8B-B14F-4D97-AF65-F5344CB8AC3E}">
        <p14:creationId xmlns:p14="http://schemas.microsoft.com/office/powerpoint/2010/main" val="1023166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2B160-E72D-415D-9F19-E9D539F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商品发布与历史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19083-8096-441B-84A6-9F9B88B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商品发布与重复发布控制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D5752-8954-4ACE-A43C-719F124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发布入口  publish_product()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EA789-CCDA-4A3B-BEC7-C09604F6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先验证卖家登录，再校验名称、描述、价格和图片。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4E74B-986F-416B-BCDD-D953AB52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业务规则：同时最多一件未售商品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AA873-17EE-407D-A7CB-22BFB297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在售 active、冻结 frozen 均占名额，已售 sold 后才能再发布。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774D0-0092-4284-8F8A-502AE07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并发控制：写事务与唯一索引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0426D-7A1F-467C-9F66-AF76B0C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在同一写事务中检查并插入，配合唯一索引防止重复发布。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F9908-B8D9-407B-A687-6793A6B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冻结仍占名额的原因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A5D6B-CC98-43C3-9F3C-36EEB20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冻结表示交易尚未完成，失败后还需恢复在售。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9650E-7690-46FE-A526-86DB195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902622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1306-41E6-42CE-BAAF-A93DCF0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商品发布与历史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FF35-BC70-413D-B6F2-61027E10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输入校验与商品历史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8DC58-1BBB-4495-9689-EC98F739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金额精度  parse_price()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D418-0704-45EE-94CB-6F4362DB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Decimal 将 19.90 元转为 1990 分，避免浮点金额误差。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46B52-0069-40EA-B739-7B94BBD7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图片校验  validate_image()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93B23-CA1F-4288-9B5B-EF8E6DE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检查 Base64 编码、PNG/JPEG/WebP 文件头及 2 MB 上限。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AAA61-D120-4A43-B2FB-2867443F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历史保留  list_products()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F85D5-1FB2-4CEE-B719-D4BF81C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按编号倒序返回全部状态的商品，保留发布时间与成交时间。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6A70-008C-4B0A-A186-772BB91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接口验证记录（2026-10-08）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604A2-1D2C-4763-92B7-084405A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非法价格、图片被拒绝。已售后可再发布，旧记录仍保留。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12B99-3AB1-4722-A2B8-93B3A999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16558857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123B3-8805-4DC3-BB12-4AACB3FE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黄扬轩   交易与冻结管理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EB52-0216-49C3-96BD-8979B951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意向查询与商品冻结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7DEA2-3B54-4EE7-8AC2-FB3CD68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交易工作台  list_trades()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107CE-8CB3-4423-B643-C4DCF1D6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JOIN 商品与意向，返回当前商品、买家信息和交易过程。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D3617-6621-4F5C-822D-173A2903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冻结操作  update_trade(action="freeze")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7ACA6-F490-4267-B495-2A828AB5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只允许 active 商品，所选意向必须属于本商品且为 pending。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18084-D284-461B-BB08-74347FC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关联交易对象  selected_intent_id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6F3E7-52BF-40E2-81E8-981ECDE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商品改 frozen，记录买家编号；所选意向改 selected。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B4FD4-6CA3-40F7-A94D-E368D37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D183B-2CF5-4034-AEBF-DDC9ACFC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选中买家A后冻结；再次冻结、选择其他商品意向均返回冲突。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A780E-4B01-4803-972E-C709E365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532312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B61E9-9D6A-4AF5-AAEE-2BE4BAC5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黄扬轩   交易与冻结管理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1C5D0-31D2-4C41-A105-65F63A3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成交、恢复与事务一致性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06B07-6FB4-4771-81F1-9F7321A7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交易成功  action="success"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EA93-0925-4952-B8B3-EE45091B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必须已冻结；商品改 sold，选中意向 completed，其他意向 closed。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CAEAB-996D-41A8-A60D-82C5F130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交易失败  action="failure"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5C0F8-5344-46F5-B8CC-D8F6C8F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商品恢复 active，清空所选编号，原意向恢复 pending。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3ED1B-DCC8-4B35-9F15-C63CC2C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过程记录  trade_events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64209-38C8-41FA-85AE-CD55ACE0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每次冻结、成功或失败都记录；与状态更新在同一事务内提交。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AC0C6-82B3-46EC-AC22-463736C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异常边界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26A42-BD89-4E61-A6C7-52A6AE75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直接成交或重复成交被拒绝；中途出错整体回滚，避免部分成功。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26EBE-AE5D-4A87-A107-A0E1FE2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4811973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C4F15-617A-4681-86DF-989991CC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曾大君   卖家账号与系统集成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3C1E2-C03D-4324-84BD-52380F4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登录会话与修改密码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2BBC-5B8B-487B-89C4-0D8C8F31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密码保存  hash_password() / verify_password()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C9B9-D163-462A-9055-D5E8B85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随机盐加 PBKDF2；验证时重新计算，再进行恒定时间比较。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411E9-C0F8-4AC4-934A-EA2A6745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登录会话  login() / logged_in()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3B171-D359-4ED6-911C-D54A7B1B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随机令牌写 Cookie，数据库存令牌哈希；会话有效期 8 小时。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B82BD-86B1-45FE-9BB7-8826351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权限检查  require_seller()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7573B-BF54-4A33-828F-A0D0FD88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所有后台业务调用前验证会话，未登录返回 401。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EED9F-0B9B-45ED-B7BC-50C2DEC7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修改密码  change_password()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4B21C-5B76-44CC-A5D9-A67EA94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核对旧密码后更新哈希并清空全部会话，要求重新登录。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1E5B8-9FAD-4216-9D62-E91AB70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4495209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CA072-23E9-4A14-91F2-A64DA99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曾大君   卖家账号与系统集成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19868-5353-4135-BF87-20B96F6E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数据库事务与统一服务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261-FAA5-4816-ACF6-1CCBEBBB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共享连接  connection(write=True)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8CC7-723C-4ACA-AF77-701CFCF6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启用外键与 BEGIN IMMEDIATE；正常提交，异常回滚并关闭连接。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B1832-3A78-4767-B22B-1258CC0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初始化  initialize()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51874-E990-46CF-8FB5-4A439ED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建表、索引与固定卖家；已存在的数据与密码不被覆盖。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DA55E-0D71-44CD-A481-66A20AB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统一入口  Handler.dispatch() / respond()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07D27-F0A5-49CF-A702-AB1C8DD1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合并各模块 ROUTES，处理 JSON、参数、错误与静态文件。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27298-2736-4496-AF66-9890D1B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验证职责  test_system.py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DABB0-3ADD-443E-8D73-D6EEA661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提供状态、权限、并发与持久化测试；完整联调需保留实际证据。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77AA0-2817-4867-834D-47ABC5A4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228346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2026-10-15T02:03:33.2460000Z</dcterms:created>
  <dcterms:modified xsi:type="dcterms:W3CDTF">2026-10-15T02:03:33.2460000Z</dcterms:modified>
</coreProperties>
</file>